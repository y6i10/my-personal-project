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ide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21208"/>
            <a:ext cx="1508760" cy="301752"/>
          </a:xfrm>
          <a:prstGeom prst="roundRect">
            <a:avLst>
              <a:gd name="adj" fmla="val 30303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521208"/>
            <a:ext cx="1289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版本控制与协作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881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与 GitHub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67512" y="2523744"/>
            <a:ext cx="87782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D6E2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从第一次提交，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D6E2E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到一次完整协作。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04088" y="4197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8CAD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本地版本控制  /  GitHub 托管  /  分支与 PR  /  基础安全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5394960"/>
            <a:ext cx="9756648" cy="0"/>
          </a:xfrm>
          <a:prstGeom prst="line">
            <a:avLst/>
          </a:prstGeom>
          <a:noFill/>
          <a:ln w="38100">
            <a:solidFill>
              <a:srgbClr val="476070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32104" y="5312664"/>
            <a:ext cx="164592" cy="164592"/>
          </a:xfrm>
          <a:prstGeom prst="ellipse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" y="5650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6E2E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EDIT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50792" y="5312664"/>
            <a:ext cx="164592" cy="164592"/>
          </a:xfrm>
          <a:prstGeom prst="ellipse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85616" y="5650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6E2E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32904" y="5312664"/>
            <a:ext cx="164592" cy="164592"/>
          </a:xfrm>
          <a:prstGeom prst="ellipse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967728" y="5650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6E2E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COMMIT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88752" y="5312664"/>
            <a:ext cx="164592" cy="164592"/>
          </a:xfrm>
          <a:prstGeom prst="ellipse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323576" y="56509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6E2E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34465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AFC0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AFC0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/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FC0C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30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6821424"/>
            <a:ext cx="406390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学习路线：从本地记录到远程协作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以纯文本项目 git-class-demo 串联完整流程。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21424"/>
            <a:ext cx="812780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504" y="2176272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32104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18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2104" y="2980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留下版本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2104" y="3547872"/>
            <a:ext cx="31089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初始化 → 暂存 → 提交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比较两次修改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在本地分支里工作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315968" y="2176272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44568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18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44568" y="2980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完成协作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544568" y="3547872"/>
            <a:ext cx="31089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新建 GitHub 仓库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push / clone / pull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发起并合并一个 PR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028432" y="2176272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57032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18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57032" y="2980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守住边界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257032" y="3547872"/>
            <a:ext cx="31089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忽略本地凭据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理解历史不会自动消失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检查账号与仓库权限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本地管理版本，远程共享提交，通过分支和 Pull Request 协作。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版本控制解决什么问题？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版本控制让“谁改了什么、为什么改”成为可以追溯的记录。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 PDF p.4 [A]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1219170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4360" y="2212848"/>
            <a:ext cx="50749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7824" y="2514600"/>
            <a:ext cx="4526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只靠文件名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68680" y="3090672"/>
            <a:ext cx="4535424" cy="1682496"/>
          </a:xfrm>
          <a:prstGeom prst="roundRect">
            <a:avLst>
              <a:gd name="adj" fmla="val 6522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97280" y="3246120"/>
            <a:ext cx="4078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文件命名示例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3639312"/>
            <a:ext cx="407822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report_final.txt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report_final_v2.txt</a:t>
            </a:r>
            <a:endParaRPr lang="en-US" sz="1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report_really_final.txt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" y="4937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很难看出差异，也容易覆盖同伴的修改。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888736" y="2212848"/>
            <a:ext cx="5705856" cy="3108960"/>
          </a:xfrm>
          <a:prstGeom prst="roundRect">
            <a:avLst>
              <a:gd name="adj" fmla="val 3529"/>
            </a:avLst>
          </a:prstGeom>
          <a:solidFill>
            <a:srgbClr val="E7F3F2"/>
          </a:solidFill>
          <a:ln w="12700">
            <a:solidFill>
              <a:srgbClr val="E7F3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63056" y="2514600"/>
            <a:ext cx="5166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把变化留在历史里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6355080" y="3264408"/>
            <a:ext cx="155448" cy="155448"/>
          </a:xfrm>
          <a:prstGeom prst="ellipse">
            <a:avLst/>
          </a:prstGeom>
          <a:solidFill>
            <a:srgbClr val="2D7981"/>
          </a:solidFill>
          <a:ln w="12700">
            <a:solidFill>
              <a:srgbClr val="2D7981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32804" y="3429000"/>
            <a:ext cx="0" cy="338328"/>
          </a:xfrm>
          <a:prstGeom prst="line">
            <a:avLst/>
          </a:prstGeom>
          <a:noFill/>
          <a:ln w="25400">
            <a:solidFill>
              <a:srgbClr val="2D798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57416" y="312724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C1  建立项目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355080" y="3794760"/>
            <a:ext cx="155448" cy="155448"/>
          </a:xfrm>
          <a:prstGeom prst="ellipse">
            <a:avLst/>
          </a:prstGeom>
          <a:solidFill>
            <a:srgbClr val="2D7981"/>
          </a:solidFill>
          <a:ln w="12700">
            <a:solidFill>
              <a:srgbClr val="2D7981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32804" y="3959352"/>
            <a:ext cx="0" cy="338328"/>
          </a:xfrm>
          <a:prstGeom prst="line">
            <a:avLst/>
          </a:prstGeom>
          <a:noFill/>
          <a:ln w="25400">
            <a:solidFill>
              <a:srgbClr val="2D798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757416" y="365760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C2  更新学习笔记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355080" y="4325112"/>
            <a:ext cx="155448" cy="155448"/>
          </a:xfrm>
          <a:prstGeom prst="ellipse">
            <a:avLst/>
          </a:prstGeom>
          <a:solidFill>
            <a:srgbClr val="2D7981"/>
          </a:solidFill>
          <a:ln w="12700">
            <a:solidFill>
              <a:srgbClr val="2D798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57416" y="418795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C3  加入介绍文件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不是多复制几份文件，而是让每个有意义的改动留下可比较的记录。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≠ GitHub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一个负责版本记录，一个提供远程托管与协作。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 PDF p.7 [A]；GitHub [8][21]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1625559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4360" y="2240280"/>
            <a:ext cx="5367528" cy="3273552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90488" y="2240280"/>
            <a:ext cx="5404104" cy="3273552"/>
          </a:xfrm>
          <a:prstGeom prst="roundRect">
            <a:avLst>
              <a:gd name="adj" fmla="val 33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59536" y="2496312"/>
            <a:ext cx="1417320" cy="301752"/>
          </a:xfrm>
          <a:prstGeom prst="roundRect">
            <a:avLst>
              <a:gd name="adj" fmla="val 30303"/>
            </a:avLst>
          </a:prstGeom>
          <a:solidFill>
            <a:srgbClr val="E7F3F2"/>
          </a:solidFill>
          <a:ln w="12700">
            <a:solidFill>
              <a:srgbClr val="E7F3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9264" y="2496312"/>
            <a:ext cx="1197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在你的电脑上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55664" y="2496312"/>
            <a:ext cx="1417320" cy="301752"/>
          </a:xfrm>
          <a:prstGeom prst="roundRect">
            <a:avLst>
              <a:gd name="adj" fmla="val 30303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65392" y="2496312"/>
            <a:ext cx="11978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在远程服务上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96112" y="305409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83096" y="305409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4553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保存提交与分支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大部分本地操作无需联网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01384" y="4160520"/>
            <a:ext cx="45537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托管 Git 仓库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 PR、评审等协作界面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commit 是本地提交；push 才把对应分支的提交送往远程。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先记住这四个位置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每条命令都有“起点”和“终点”。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[1][2]；GitHub [8]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2031949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94360" y="2560320"/>
            <a:ext cx="240487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276148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EDIT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310128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工作区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77240" y="3995928"/>
            <a:ext cx="2039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你正在编辑的文件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3456432" y="2560320"/>
            <a:ext cx="240487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639312" y="276148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39312" y="3310128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暂存区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639312" y="3995928"/>
            <a:ext cx="2039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下一次提交的内容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318504" y="2560320"/>
            <a:ext cx="240487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01384" y="276148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01384" y="3310128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本地仓库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6501384" y="3995928"/>
            <a:ext cx="2039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已经留下的提交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9180576" y="2560320"/>
            <a:ext cx="2404872" cy="2286000"/>
          </a:xfrm>
          <a:prstGeom prst="roundRect">
            <a:avLst>
              <a:gd name="adj" fmla="val 4800"/>
            </a:avLst>
          </a:prstGeom>
          <a:solidFill>
            <a:srgbClr val="E7F3F2"/>
          </a:solidFill>
          <a:ln w="12700">
            <a:solidFill>
              <a:srgbClr val="E7F3F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63456" y="276148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REMOTE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63456" y="3310128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远程仓库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363456" y="3995928"/>
            <a:ext cx="20391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上的分支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3044952" y="3557016"/>
            <a:ext cx="356616" cy="0"/>
          </a:xfrm>
          <a:prstGeom prst="line">
            <a:avLst/>
          </a:prstGeom>
          <a:noFill/>
          <a:ln w="25400">
            <a:solidFill>
              <a:srgbClr val="F18B4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752344" y="208483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add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07024" y="3557016"/>
            <a:ext cx="356616" cy="0"/>
          </a:xfrm>
          <a:prstGeom prst="line">
            <a:avLst/>
          </a:prstGeom>
          <a:noFill/>
          <a:ln w="25400">
            <a:solidFill>
              <a:srgbClr val="F18B4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14416" y="208483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commit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769096" y="3557016"/>
            <a:ext cx="356616" cy="0"/>
          </a:xfrm>
          <a:prstGeom prst="line">
            <a:avLst/>
          </a:prstGeom>
          <a:noFill/>
          <a:ln w="25400">
            <a:solidFill>
              <a:srgbClr val="F18B4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476488" y="208483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push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58952" y="5129784"/>
            <a:ext cx="7754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本地三层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9808" y="5001768"/>
            <a:ext cx="7781544" cy="0"/>
          </a:xfrm>
          <a:prstGeom prst="line">
            <a:avLst/>
          </a:prstGeom>
          <a:noFill/>
          <a:ln w="12700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查看变化：git status → git diff → git diff --cached。先看清，再提交。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LOCAL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环境准备与命令约定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Windows 使用 Git Bash；macOS 与 Linux 使用系统终端。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[9][10][12][20]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2438339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12648" y="2258568"/>
            <a:ext cx="4965192" cy="2432304"/>
          </a:xfrm>
          <a:prstGeom prst="roundRect">
            <a:avLst>
              <a:gd name="adj" fmla="val 4511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2414016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三条检查命令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2807208"/>
            <a:ext cx="4507992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--version</a:t>
            </a:r>
            <a:endParaRPr lang="en-US" sz="2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ssh -V</a:t>
            </a:r>
            <a:endParaRPr lang="en-US" sz="2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3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pwd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5989320" y="22677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8932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56248" y="2249424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Windows：Git Bash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56248" y="279806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示例写文件语法不直接用于 CMD / PowerShell。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989320" y="36027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8932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56248" y="3584448"/>
            <a:ext cx="4828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macOS / Linux：Terminal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56248" y="4133088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示例命令使用 zsh / bash 语法。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32104" y="5148072"/>
            <a:ext cx="10561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参数：YOUR_USERNAME 为仓库账号；YOUR_NOREPLY_EMAIL 为提交邮箱。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环境要求：Git 2.28+。使用新建练习目录，GitHub 操作需要账号认证与仓库权限。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LOCAL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01｜初始化本地仓库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位置：用户主目录下的全新 git-class-demo。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 PDF p.10 [A]；GitHub [8][12]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2844729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48840"/>
            <a:ext cx="7525512" cy="3218688"/>
          </a:xfrm>
          <a:prstGeom prst="roundRect">
            <a:avLst>
              <a:gd name="adj" fmla="val 3409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04288"/>
            <a:ext cx="7068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创建仓库与配置作者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697480"/>
            <a:ext cx="70683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cd ~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mkdir git-class-demo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cd git-class-demo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init -b main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config user.name "Git Demo"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config user.email "YOUR_NOREPLY_EMAIL"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476488" y="22402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7648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43416" y="222199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init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043416" y="27706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初始化当前目录，主分支叫 main。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476488" y="37033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76488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43416" y="3685032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config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43416" y="423367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作者信息，不是 GitHub 登录。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同名目录已存在时应换名；不加 --global 的配置只作用于当前仓库。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LOCAL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02｜建立示例项目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只用文本文件；所有凭据字段都是没有真实权限的占位值。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[1][4]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3251119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203704"/>
            <a:ext cx="6537960" cy="2889504"/>
          </a:xfrm>
          <a:prstGeom prst="roundRect">
            <a:avLst>
              <a:gd name="adj" fmla="val 3797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59152"/>
            <a:ext cx="608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项目目录结构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752344"/>
            <a:ext cx="60807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git-class-demo/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README.md       project description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notes.txt       learning notes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.gitignore      ignore rules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.env.example    placeholders only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.env            local fake value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88352" y="2203704"/>
            <a:ext cx="4206240" cy="2889504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62672" y="24963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这次提交四个文件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662672" y="3227832"/>
            <a:ext cx="36576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README、notes、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.gitignore、.env.example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62672" y="4343400"/>
            <a:ext cx="1499616" cy="301752"/>
          </a:xfrm>
          <a:prstGeom prst="roundRect">
            <a:avLst>
              <a:gd name="adj" fmla="val 30303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0" y="4343400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.env 不提交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status --short 中的 ?? 表示未跟踪文件；忽略规则命中的 .env 不显示。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LOCAL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03｜暂存与第一次提交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明确选择文件，并检查将要写入历史的内容。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 PDF p.10 [A]；Git [1]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3657509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76272"/>
            <a:ext cx="10991088" cy="3172968"/>
          </a:xfrm>
          <a:prstGeom prst="roundRect">
            <a:avLst>
              <a:gd name="adj" fmla="val 3458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31720"/>
            <a:ext cx="10533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暂存、检查与提交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724912"/>
            <a:ext cx="105338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9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add README.md notes.txt .gitignore .env.example</a:t>
            </a:r>
            <a:endParaRPr lang="en-US" sz="1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status --short</a:t>
            </a:r>
            <a:endParaRPr lang="en-US" sz="1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diff --cached</a:t>
            </a:r>
            <a:endParaRPr lang="en-US" sz="1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commit -m "Initial commit"</a:t>
            </a:r>
            <a:endParaRPr lang="en-US" sz="1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status</a:t>
            </a:r>
            <a:endParaRPr lang="en-US" sz="1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--no-pager log --oneline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commit 只写入本地仓库；工作区干净并不代表已经同步到 GitHub。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LOCAL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04｜修改文件与查看差异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工作区的变化，与下一次提交的内容，分开观察。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[1][7]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4063898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85416"/>
            <a:ext cx="8074152" cy="3200400"/>
          </a:xfrm>
          <a:prstGeom prst="roundRect">
            <a:avLst>
              <a:gd name="adj" fmla="val 3429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40864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修改与提交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734056"/>
            <a:ext cx="7616952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printf 'I can track changes.\n' &gt;&gt; notes.txt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diff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add notes.txt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diff --cached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commit -m "Update learning notes"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--no-pager log --oneline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8915400" y="2185416"/>
            <a:ext cx="2679192" cy="3200400"/>
          </a:xfrm>
          <a:prstGeom prst="roundRect">
            <a:avLst>
              <a:gd name="adj" fmla="val 4096"/>
            </a:avLst>
          </a:prstGeom>
          <a:solidFill>
            <a:srgbClr val="E7F3F2"/>
          </a:solidFill>
          <a:ln w="12700">
            <a:solidFill>
              <a:srgbClr val="E7F3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80576" y="25237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 diff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80576" y="3127248"/>
            <a:ext cx="21488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工作区 ↔ 暂存区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80576" y="384962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 --cached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80576" y="44805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暂存区 ↔ 当前提交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add 之后再编辑，不会自动更新暂存快照。要提交新改动，就再次 add。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LOCAL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分支：先独立做，再决定如何合入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分支是指向提交的轻量引用，不是复制一整个项目目录。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 Git [7]；Git merge [3]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4470288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67128"/>
            <a:ext cx="10991088" cy="3300984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99032" y="4142232"/>
            <a:ext cx="8622792" cy="0"/>
          </a:xfrm>
          <a:prstGeom prst="line">
            <a:avLst/>
          </a:prstGeom>
          <a:noFill/>
          <a:ln w="38100">
            <a:solidFill>
              <a:srgbClr val="2D7981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flipV="1">
            <a:off x="4572000" y="3017520"/>
            <a:ext cx="1399032" cy="1124712"/>
          </a:xfrm>
          <a:prstGeom prst="line">
            <a:avLst/>
          </a:prstGeom>
          <a:noFill/>
          <a:ln w="38100">
            <a:solidFill>
              <a:srgbClr val="F18B45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71032" y="3017520"/>
            <a:ext cx="2039112" cy="0"/>
          </a:xfrm>
          <a:prstGeom prst="line">
            <a:avLst/>
          </a:prstGeom>
          <a:noFill/>
          <a:ln w="38100">
            <a:solidFill>
              <a:srgbClr val="F18B45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10144" y="3017520"/>
            <a:ext cx="2011680" cy="1124712"/>
          </a:xfrm>
          <a:prstGeom prst="line">
            <a:avLst/>
          </a:prstGeom>
          <a:noFill/>
          <a:ln w="38100">
            <a:solidFill>
              <a:srgbClr val="F18B45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216152" y="3959352"/>
            <a:ext cx="365760" cy="365760"/>
          </a:xfrm>
          <a:prstGeom prst="ellipse">
            <a:avLst/>
          </a:prstGeom>
          <a:solidFill>
            <a:srgbClr val="2D7981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96696" y="452628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89120" y="3959352"/>
            <a:ext cx="365760" cy="365760"/>
          </a:xfrm>
          <a:prstGeom prst="ellipse">
            <a:avLst/>
          </a:prstGeom>
          <a:solidFill>
            <a:srgbClr val="2D7981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169664" y="452628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27264" y="2834640"/>
            <a:ext cx="365760" cy="365760"/>
          </a:xfrm>
          <a:prstGeom prst="ellipse">
            <a:avLst/>
          </a:prstGeom>
          <a:solidFill>
            <a:srgbClr val="F18B45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607808" y="340156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838944" y="3959352"/>
            <a:ext cx="365760" cy="365760"/>
          </a:xfrm>
          <a:prstGeom prst="ellipse">
            <a:avLst/>
          </a:prstGeom>
          <a:solidFill>
            <a:srgbClr val="2D7981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619488" y="452628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6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2404872"/>
            <a:ext cx="1609344" cy="301752"/>
          </a:xfrm>
          <a:prstGeom prst="roundRect">
            <a:avLst>
              <a:gd name="adj" fmla="val 30303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39128" y="2404872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feature/intro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35440" y="4855464"/>
            <a:ext cx="868680" cy="301752"/>
          </a:xfrm>
          <a:prstGeom prst="roundRect">
            <a:avLst>
              <a:gd name="adj" fmla="val 30303"/>
            </a:avLst>
          </a:prstGeom>
          <a:solidFill>
            <a:srgbClr val="E7F3F2"/>
          </a:solidFill>
          <a:ln w="12700">
            <a:solidFill>
              <a:srgbClr val="E7F3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45168" y="4855464"/>
            <a:ext cx="6492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60704" y="2560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在功能分支里新增 intro.txt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78992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图为提交关系示意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合并的目标是“当前分支”。先 switch main，再 merge 功能分支。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LOCAL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05｜创建分支并合并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观察：切回 main 时，刚才新增的文件不在当前版本里。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[3][7]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4876678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48840"/>
            <a:ext cx="10991088" cy="3456432"/>
          </a:xfrm>
          <a:prstGeom prst="roundRect">
            <a:avLst>
              <a:gd name="adj" fmla="val 3175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04288"/>
            <a:ext cx="10533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创建、切换与合并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697480"/>
            <a:ext cx="10533888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switch -c feature/intro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printf 'Hello from a feature branch.\n' &gt; intro.txt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add intro.txt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commit -m "Add introduction"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switch main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ls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merge --no-ff feature/intro -m "Merge intro"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--no-pager log --oneline --graph --all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--no-ff 保留合并提交；-m 指定这次合并的提交说明。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GITHUB HOSTING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 GitHub 前，分清三种“身份”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配置作者信息，并不会给你任何仓库的写权限。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[9][10][12][13]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5283068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48840"/>
            <a:ext cx="3566160" cy="267004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18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2104" y="2953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提交作者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2104" y="3520440"/>
            <a:ext cx="3108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user.name / user.email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写入提交记录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315968" y="2148840"/>
            <a:ext cx="3566160" cy="267004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44568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18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44568" y="2953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认证方式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544568" y="3520440"/>
            <a:ext cx="3108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SSH 密钥或 HTTPS 凭据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证明“你是谁”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028432" y="2148840"/>
            <a:ext cx="3566160" cy="2670048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57032" y="2331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18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57032" y="2953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仓库权限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257032" y="3520440"/>
            <a:ext cx="31089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owner / repo / 写权限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决定“你能改哪里”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03504" y="4992624"/>
            <a:ext cx="5879592" cy="630936"/>
          </a:xfrm>
          <a:prstGeom prst="roundRect">
            <a:avLst>
              <a:gd name="adj" fmla="val 17391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2104" y="5129784"/>
            <a:ext cx="5422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ssh -T git@github.com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02552" y="5038344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已认证 + 用户名正确 = 身份检查通过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私钥只留本机，GitHub 只添加 .pub；首次连接核对官方主机指纹。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GITHUB HOSTING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06｜创建空的 GitHub 仓库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路线：GitHub → New repository。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[8]；上传指南 p.1–2 [B]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5689458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084832"/>
            <a:ext cx="6720840" cy="3447288"/>
          </a:xfrm>
          <a:prstGeom prst="roundRect">
            <a:avLst>
              <a:gd name="adj" fmla="val 3183"/>
            </a:avLst>
          </a:prstGeom>
          <a:solidFill>
            <a:srgbClr val="FFFFFF"/>
          </a:solidFill>
          <a:ln w="12700">
            <a:solidFill>
              <a:srgbClr val="DCE1E3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03504" y="2084832"/>
            <a:ext cx="6720840" cy="438912"/>
          </a:xfrm>
          <a:prstGeom prst="roundRect">
            <a:avLst>
              <a:gd name="adj" fmla="val 16667"/>
            </a:avLst>
          </a:prstGeom>
          <a:solidFill>
            <a:srgbClr val="E9EDEE"/>
          </a:solidFill>
          <a:ln w="12700">
            <a:solidFill>
              <a:srgbClr val="E9EDE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41248" y="21488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 a new repository  ·  界面示意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" y="274320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Owner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61104" y="272491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YOUR_USERNAME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6112" y="3227832"/>
            <a:ext cx="6126480" cy="0"/>
          </a:xfrm>
          <a:prstGeom prst="line">
            <a:avLst/>
          </a:prstGeom>
          <a:noFill/>
          <a:ln w="7620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05256" y="333756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Repository name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61104" y="331927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git-class-demo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6112" y="3822192"/>
            <a:ext cx="6126480" cy="0"/>
          </a:xfrm>
          <a:prstGeom prst="line">
            <a:avLst/>
          </a:prstGeom>
          <a:noFill/>
          <a:ln w="7620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05256" y="393192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61104" y="391363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Private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6112" y="4416552"/>
            <a:ext cx="6126480" cy="0"/>
          </a:xfrm>
          <a:prstGeom prst="line">
            <a:avLst/>
          </a:prstGeom>
          <a:noFill/>
          <a:ln w="7620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05256" y="4526280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README / .gitignore / License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61104" y="45079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不初始化 / None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80960" y="22677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68096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47888" y="2249424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个人账号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247888" y="279806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Owner 应与目标仓库所属账号一致。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7680960" y="36576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68096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47888" y="363931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保持空仓库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47888" y="41879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本地已经有首次提交；不要再生成另一套起点。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另一条路线可以“网页先建 README → clone”；不要混用两次独立初始化。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GITHUB HOSTING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07｜配置远程并首次推送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YOUR_USERNAME 替换为实际仓库 owner；git@ 不要修改。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[8][21]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6095848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94560"/>
            <a:ext cx="10991088" cy="2441448"/>
          </a:xfrm>
          <a:prstGeom prst="roundRect">
            <a:avLst>
              <a:gd name="adj" fmla="val 4494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50008"/>
            <a:ext cx="10533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关联远程与推送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743200"/>
            <a:ext cx="10533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8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remote add origin git@github.com:YOUR_USERNAME/git-class-demo.git</a:t>
            </a:r>
            <a:endParaRPr lang="en-US" sz="1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8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remote -v</a:t>
            </a:r>
            <a:endParaRPr lang="en-US" sz="1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8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push -u origin main</a:t>
            </a:r>
            <a:endParaRPr lang="en-US" sz="17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8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branch -vv</a:t>
            </a:r>
            <a:endParaRPr lang="en-US" sz="1780" dirty="0"/>
          </a:p>
        </p:txBody>
      </p:sp>
      <p:sp>
        <p:nvSpPr>
          <p:cNvPr id="13" name="Text 11"/>
          <p:cNvSpPr/>
          <p:nvPr/>
        </p:nvSpPr>
        <p:spPr>
          <a:xfrm>
            <a:off x="868680" y="49194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origin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68680" y="54132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远程地址的常用别名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36008" y="49194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main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636008" y="54132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这次推送的本地分支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03336" y="49194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-u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403336" y="5413248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建立上游跟踪关系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GITHUB HOSTING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确认推送结果，并克隆仓库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从仓库页面与本地克隆两个角度检查同步结果。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[8][21]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6502237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76272"/>
            <a:ext cx="4032504" cy="3209544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05256" y="2505456"/>
            <a:ext cx="3456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仓库页面检查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14400" y="31363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62456" y="313639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main 分支正确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35935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62456" y="359359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文件与提交说明出现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40507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62456" y="405079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短哈希与本地一致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507992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62456" y="4507992"/>
            <a:ext cx="2953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.env 没有出现在列表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882896" y="2176272"/>
            <a:ext cx="6711696" cy="3209544"/>
          </a:xfrm>
          <a:prstGeom prst="roundRect">
            <a:avLst>
              <a:gd name="adj" fmla="val 3419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11496" y="2331720"/>
            <a:ext cx="6254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克隆到新的本地目录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11496" y="2724912"/>
            <a:ext cx="625449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4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cd ~</a:t>
            </a:r>
            <a:endParaRPr lang="en-US" sz="164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4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clone git@github.com:YOUR_USERNAME/\</a:t>
            </a:r>
            <a:endParaRPr lang="en-US" sz="164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4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git-class-demo.git git-class-clone</a:t>
            </a:r>
            <a:endParaRPr lang="en-US" sz="164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4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cd git-class-clone</a:t>
            </a:r>
            <a:endParaRPr lang="en-US" sz="164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4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cat notes.txt</a:t>
            </a:r>
            <a:endParaRPr lang="en-US" sz="164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4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cd ~/git-class-demo</a:t>
            </a:r>
            <a:endParaRPr lang="en-US" sz="1640" dirty="0"/>
          </a:p>
        </p:txBody>
      </p:sp>
      <p:sp>
        <p:nvSpPr>
          <p:cNvPr id="23" name="Shape 21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clone 是建立另一份本地仓库；完成检查后，返回原来的 git-class-demo。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GITHUB HOSTING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08｜拉取远程更新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先在 GitHub 的 main 上修改 notes.txt 并提交。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pull [2]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6908627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76272"/>
            <a:ext cx="4005072" cy="3227832"/>
          </a:xfrm>
          <a:prstGeom prst="roundRect">
            <a:avLst>
              <a:gd name="adj" fmla="val 33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246888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网页操作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099816"/>
            <a:ext cx="34015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 notes.txt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点击编辑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末尾加一行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Commit changes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05256" y="481888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Edited on GitHub.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82896" y="2176272"/>
            <a:ext cx="6711696" cy="3227832"/>
          </a:xfrm>
          <a:prstGeom prst="roundRect">
            <a:avLst>
              <a:gd name="adj" fmla="val 3399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11496" y="2331720"/>
            <a:ext cx="6254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本地同步命令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11496" y="2724912"/>
            <a:ext cx="625449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cd ~/git-class-demo</a:t>
            </a:r>
            <a:endParaRPr lang="en-US" sz="2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switch main</a:t>
            </a:r>
            <a:endParaRPr lang="en-US" sz="2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status</a:t>
            </a:r>
            <a:endParaRPr lang="en-US" sz="2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pull --ff-only</a:t>
            </a:r>
            <a:endParaRPr lang="en-US" sz="2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cat notes.txt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pull = 先获取，再整合。--ff-only 遇到分叉会停止，不会强制覆盖本地。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COLLABORATION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09｜推送功能分支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feature/checklist：给项目增加一份提交前检查清单。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[15]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7315017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76272"/>
            <a:ext cx="7360920" cy="3236976"/>
          </a:xfrm>
          <a:prstGeom prst="roundRect">
            <a:avLst>
              <a:gd name="adj" fmla="val 3390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31720"/>
            <a:ext cx="6903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创建并推送检查清单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724912"/>
            <a:ext cx="69037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switch -c feature/checklist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printf '%s\n' 'Check status before commit.' \</a:t>
            </a:r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'Review diff before push.' &gt; checklist.txt</a:t>
            </a:r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add checklist.txt</a:t>
            </a:r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diff --cached</a:t>
            </a:r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commit -m "Add demo checklist"</a:t>
            </a:r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push -u origin feature/checklist</a:t>
            </a:r>
          </a:p>
        </p:txBody>
      </p:sp>
      <p:sp>
        <p:nvSpPr>
          <p:cNvPr id="13" name="Shape 11"/>
          <p:cNvSpPr/>
          <p:nvPr/>
        </p:nvSpPr>
        <p:spPr>
          <a:xfrm>
            <a:off x="8211312" y="2176272"/>
            <a:ext cx="3383280" cy="3236976"/>
          </a:xfrm>
          <a:prstGeom prst="roundRect">
            <a:avLst>
              <a:gd name="adj" fmla="val 3390"/>
            </a:avLst>
          </a:prstGeom>
          <a:solidFill>
            <a:srgbClr val="E7F3F2"/>
          </a:solidFill>
          <a:ln w="12700">
            <a:solidFill>
              <a:srgbClr val="E7F3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94776" y="2615184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此时 main</a:t>
            </a:r>
            <a:endParaRPr lang="en-US" sz="2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还没有改变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513064" y="3895344"/>
            <a:ext cx="276148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push 了功能分支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≠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已经合并主分支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 是合并请求；git pull 是拉取命令。名字相似，但不是同一个操作。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COLLABORATION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10｜创建、审阅并合并 Pull Request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Pull requests → New pull request。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[15][16]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7721407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76272"/>
            <a:ext cx="1099108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505456"/>
            <a:ext cx="1627632" cy="301752"/>
          </a:xfrm>
          <a:prstGeom prst="roundRect">
            <a:avLst>
              <a:gd name="adj" fmla="val 30303"/>
            </a:avLst>
          </a:prstGeom>
          <a:solidFill>
            <a:srgbClr val="E7F3F2"/>
          </a:solidFill>
          <a:ln w="12700">
            <a:solidFill>
              <a:srgbClr val="E7F3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24128" y="2505456"/>
            <a:ext cx="1408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base: main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61488" y="24597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接收修改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H="1">
            <a:off x="4773168" y="2660904"/>
            <a:ext cx="2057400" cy="0"/>
          </a:xfrm>
          <a:prstGeom prst="line">
            <a:avLst/>
          </a:prstGeom>
          <a:noFill/>
          <a:ln w="38100">
            <a:solidFill>
              <a:srgbClr val="F18B45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24344" y="2505456"/>
            <a:ext cx="3776472" cy="301752"/>
          </a:xfrm>
          <a:prstGeom prst="roundRect">
            <a:avLst>
              <a:gd name="adj" fmla="val 30303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434072" y="2505456"/>
            <a:ext cx="3557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compare: feature/checklist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36484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35608" y="3630168"/>
            <a:ext cx="2871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Files changed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35608" y="4178808"/>
            <a:ext cx="2843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检查是否只有预期文件。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4572000" y="36484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38928" y="3630168"/>
            <a:ext cx="28437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Create pull request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38928" y="4178808"/>
            <a:ext cx="2816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说明改了什么、为什么改。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257032" y="36484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257032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23960" y="363016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确认合并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823960" y="4178808"/>
            <a:ext cx="2459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 Create a merge commit。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团队协作应先满足评审与仓库规则，不应绕过既有分支保护。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COLLABORATION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同步合并后的 main 分支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网页已经合并，不代表你的本地文件自动更新。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[2][3]；GitHub [16]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8127797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85416"/>
            <a:ext cx="8046720" cy="3227832"/>
          </a:xfrm>
          <a:prstGeom prst="roundRect">
            <a:avLst>
              <a:gd name="adj" fmla="val 3399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4086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拉取合并结果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734056"/>
            <a:ext cx="758952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switch main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pull --ff-only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cat checklist.txt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--no-pager log --oneline --graph --all -8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branch -d feature/checklist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887968" y="2185416"/>
            <a:ext cx="2706624" cy="322783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62288" y="2523744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协作闭环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62288" y="3255264"/>
            <a:ext cx="2176272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开分支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提交并推送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 评审合并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同步 main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-d 只安全删除本地已合并分支；若用了 squash，删除受阻就先保留。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 01｜凭据不进库，从第一天开始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私有仓库不是保险箱，.gitignore 也不是加密。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[4]；GitHub [17]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8534187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67128"/>
            <a:ext cx="4041648" cy="2880360"/>
          </a:xfrm>
          <a:prstGeom prst="roundRect">
            <a:avLst>
              <a:gd name="adj" fmla="val 3810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22576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.gitignore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715768"/>
            <a:ext cx="3584448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.env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.env.*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!.env.example</a:t>
            </a:r>
            <a:endParaRPr lang="en-US" sz="2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5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*.log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4910328" y="2167128"/>
            <a:ext cx="6684264" cy="2011680"/>
          </a:xfrm>
          <a:prstGeom prst="roundRect">
            <a:avLst>
              <a:gd name="adj" fmla="val 5455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138928" y="2322576"/>
            <a:ext cx="6227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提交前检查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138928" y="2715768"/>
            <a:ext cx="622706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check-ignore -v .env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ls-files -- .env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diff --cached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84648" y="4562856"/>
            <a:ext cx="5989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.env.example 只留字段名与占位值。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提交前检查 diff；真实 Token、私钥和密码不得写入仓库。</a:t>
            </a:r>
          </a:p>
        </p:txBody>
      </p:sp>
      <p:sp>
        <p:nvSpPr>
          <p:cNvPr id="17" name="Shape 15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已跟踪文件不会因加入 .gitignore 自动消失；历史中的凭据也不会被它抹去。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 02｜删掉文件，不等于删掉历史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使用独立本地仓库与无效占位值，观察文件删除前后的历史。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[17]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8940576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85416"/>
            <a:ext cx="4572000" cy="307238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5328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当前版本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33649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.env 已经被删除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14400" y="4462272"/>
            <a:ext cx="3931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B34E4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看不到文件 ≠ 历史没有记录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31536" y="2185416"/>
            <a:ext cx="6163056" cy="3072384"/>
          </a:xfrm>
          <a:prstGeom prst="roundRect">
            <a:avLst>
              <a:gd name="adj" fmla="val 3571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0136" y="2340864"/>
            <a:ext cx="5705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历史读取示例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0136" y="2734056"/>
            <a:ext cx="570585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show HEAD~1:.env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API_KEY=DEMO_ONLY_NOT_A_REAL_KEY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真实泄露：先撤销 / 轮换凭据，再评估影响、协调清理历史与副本。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 03｜管好账号，也管好分享范围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公开之前，再检查一遍你究竟在分享什么。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 PDF p.8 [A]；GitHub [17][18]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9346966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76272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18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2104" y="2980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保护登录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32104" y="3547872"/>
            <a:ext cx="31089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启用双因素认证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妥善保存恢复方式</a:t>
            </a:r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私钥与恢复码不外传</a:t>
            </a:r>
          </a:p>
        </p:txBody>
      </p:sp>
      <p:sp>
        <p:nvSpPr>
          <p:cNvPr id="14" name="Shape 12"/>
          <p:cNvSpPr/>
          <p:nvPr/>
        </p:nvSpPr>
        <p:spPr>
          <a:xfrm>
            <a:off x="4315968" y="2176272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44568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18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44568" y="2980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最小权限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544568" y="3547872"/>
            <a:ext cx="31089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练习仓库使用 Private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只邀请必要的协作者</a:t>
            </a:r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不把秘密写进仓库</a:t>
            </a:r>
          </a:p>
        </p:txBody>
      </p:sp>
      <p:sp>
        <p:nvSpPr>
          <p:cNvPr id="18" name="Shape 16"/>
          <p:cNvSpPr/>
          <p:nvPr/>
        </p:nvSpPr>
        <p:spPr>
          <a:xfrm>
            <a:off x="8028432" y="2176272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57032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18B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57032" y="298094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遵守要求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257032" y="3547872"/>
            <a:ext cx="31089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真实课程作业不公开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共享范围听任课老师要求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克隆代码不等于信任代码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课程作业的提交与共享范围以任课老师要求为准；练习仓库不用于公开真实课程答案。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完整流程回顾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把“文件管理”变成“有记录、有审查的协作”。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[1]–[8]；GitHub [15]–[17]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9753356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67128"/>
            <a:ext cx="10991088" cy="1307592"/>
          </a:xfrm>
          <a:prstGeom prst="roundRect">
            <a:avLst>
              <a:gd name="adj" fmla="val 8392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22576"/>
            <a:ext cx="10533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日常提交前的检查顺序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715768"/>
            <a:ext cx="10533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status → diff → add → diff --cached → commit → push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3504" y="3749040"/>
            <a:ext cx="6656832" cy="1527048"/>
          </a:xfrm>
          <a:prstGeom prst="roundRect">
            <a:avLst>
              <a:gd name="adj" fmla="val 7186"/>
            </a:avLst>
          </a:prstGeom>
          <a:solidFill>
            <a:srgbClr val="E7F3F2"/>
          </a:solidFill>
          <a:ln w="12700">
            <a:solidFill>
              <a:srgbClr val="E7F3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4087368"/>
            <a:ext cx="6035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协作：分支 → PR → 合并 → pull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7525512" y="3749040"/>
            <a:ext cx="4069080" cy="1527048"/>
          </a:xfrm>
          <a:prstGeom prst="roundRect">
            <a:avLst>
              <a:gd name="adj" fmla="val 7186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08976" y="4087368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安全：凭据不进库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课后练习：建私有练习仓库，完成两次提交、一次推拉和一个 PR。不要上传真实课程答案。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A / UNDO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撤销之前，先判断改动在哪一层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所有示例只在一次性练习仓库中操作。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restore [5]；Git revert [6]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10159746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85416"/>
            <a:ext cx="1099108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86968" y="2404872"/>
            <a:ext cx="2788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加错到暂存区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49040" y="2359152"/>
            <a:ext cx="4782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restore --staged notes.txt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59368" y="2295144"/>
            <a:ext cx="2624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保留文件编辑，只撤销暂存。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3504" y="3227832"/>
            <a:ext cx="1099108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6968" y="3447288"/>
            <a:ext cx="2788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不需要未暂存修改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3401568"/>
            <a:ext cx="4782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restore notes.txt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59368" y="3337560"/>
            <a:ext cx="2624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会丢弃工作区修改；确认备份再用。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3504" y="4270248"/>
            <a:ext cx="10991088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86968" y="4489704"/>
            <a:ext cx="2788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撤销一个普通提交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4443984"/>
            <a:ext cx="4782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revert &lt;commit&gt;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59368" y="4379976"/>
            <a:ext cx="262432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新增反向提交，旧历史仍保留。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丢弃修改与改写历史前，先确认作用范围并备份；不要把强制命令当作通用修复。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B / CONFLICTS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冲突不是代码丢了，是 Git 等你决定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两个分支有提交不一定冲突；同一位置的修改可能无法自动兼容。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merge [3]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10566136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76272"/>
            <a:ext cx="4928616" cy="3172968"/>
          </a:xfrm>
          <a:prstGeom prst="roundRect">
            <a:avLst>
              <a:gd name="adj" fmla="val 3458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31720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冲突文件示意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724912"/>
            <a:ext cx="44714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&lt;&lt;&lt;&lt;&lt;&lt;&lt; HEAD</a:t>
            </a:r>
            <a:endParaRPr lang="en-US" sz="2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title=main</a:t>
            </a:r>
            <a:endParaRPr lang="en-US" sz="2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=======</a:t>
            </a:r>
            <a:endParaRPr lang="en-US" sz="2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title=feature</a:t>
            </a:r>
            <a:endParaRPr lang="en-US" sz="2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10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&gt;&gt;&gt;&gt;&gt;&gt;&gt; feature/title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925312" y="22311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25312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212848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读懂双方意图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761488"/>
            <a:ext cx="4782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手工确定最终内容，删除冲突标记。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5925312" y="354787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925312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529584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完成合并提交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92240" y="4078224"/>
            <a:ext cx="4782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add title.txt</a:t>
            </a:r>
            <a:endParaRPr lang="en-US" sz="16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commit -m "Resolve title conflict"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解决后是 add → commit。想退出本次合并：确认条件后 git merge --abort。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C / TROUBLESHOOTING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连不上 GitHub：先分辨是哪一类问题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不要把认证、仓库权限和网络超时混成一个“Git 不好用”。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[10][11][14][19][21]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10972526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39696"/>
            <a:ext cx="10991088" cy="630936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86968" y="227685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publickey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21024" y="2231136"/>
            <a:ext cx="7626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 SSH 公钥、当前 agent 与问候账号。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" y="2907792"/>
            <a:ext cx="10991088" cy="630936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86968" y="304495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not found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21024" y="2999232"/>
            <a:ext cx="7626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 owner / repo；私有仓库无权限也可能显示不存在。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" y="3675888"/>
            <a:ext cx="10991088" cy="630936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86968" y="38130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连接超时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21024" y="3767328"/>
            <a:ext cx="7626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按网络条件选择 HTTPS + GCM 或官方 SSH 443 方式。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504" y="4443984"/>
            <a:ext cx="10991088" cy="630936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86968" y="45811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2D7981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指纹不匹配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21024" y="4535424"/>
            <a:ext cx="7626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停止并核对官方信息，不关闭主机校验。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先确认错误类型，再检查认证、权限与网络；不要关闭主机校验或公开凭据。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D / TROUBLESHOOTING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推不上去：先看目录、分支与历史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多数问题先靠“看清状态”，不是靠强制覆盖。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[2][3]；GitHub [8][21]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11378916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" y="2194560"/>
            <a:ext cx="6675120" cy="3200400"/>
          </a:xfrm>
          <a:prstGeom prst="roundRect">
            <a:avLst>
              <a:gd name="adj" fmla="val 3429"/>
            </a:avLst>
          </a:prstGeom>
          <a:solidFill>
            <a:srgbClr val="172A3B"/>
          </a:solidFill>
          <a:ln w="12700">
            <a:solidFill>
              <a:srgbClr val="172A3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2104" y="23500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spc="100" kern="0" dirty="0">
                <a:solidFill>
                  <a:srgbClr val="B7CAD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排查时优先观察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2104" y="2743200"/>
            <a:ext cx="6217920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pwd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status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branch -vv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remote -v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fetch origin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git --no-pager log --oneline \</a:t>
            </a:r>
            <a:endParaRPr lang="en-US" sz="1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50" dirty="0">
                <a:solidFill>
                  <a:srgbClr val="F4F6F8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--graph --all -12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525512" y="2194560"/>
            <a:ext cx="40690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18120" y="2551176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refspec 不存在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18120" y="3026664"/>
            <a:ext cx="34838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先有提交，再确认分支名。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818120" y="3831336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3233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non-fast-forward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818120" y="4352544"/>
            <a:ext cx="348386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远程和本地有分叉；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先观察历史，再选择整合。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不确定是不是同一个项目，就保留原目录，从正确远程新克隆一份再处理。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APPENDIX E / KEY DISTINCTIONS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常见概念辨析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区分本地记录、远程同步、身份认证与合并行为。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0" y="6441948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[1]–[3]；GitHub [8]–[13]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 / 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6821424"/>
            <a:ext cx="11785305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32104" y="2139696"/>
            <a:ext cx="4160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pull ≠ 强制覆盖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5047488" y="2112264"/>
            <a:ext cx="6364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先获取远程提交，再整合；--ff-only 在分叉时停止。[2]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4672" y="2660904"/>
            <a:ext cx="10561320" cy="0"/>
          </a:xfrm>
          <a:prstGeom prst="line">
            <a:avLst/>
          </a:prstGeom>
          <a:noFill/>
          <a:ln w="7620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" y="2807208"/>
            <a:ext cx="4160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主分支变化 ≠ 必然冲突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5047488" y="2779776"/>
            <a:ext cx="6364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自动整合不了的修改才需要人判断。[3]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4672" y="3328416"/>
            <a:ext cx="10561320" cy="0"/>
          </a:xfrm>
          <a:prstGeom prst="line">
            <a:avLst/>
          </a:prstGeom>
          <a:noFill/>
          <a:ln w="7620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2104" y="3474720"/>
            <a:ext cx="4160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commit ≠ 上传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5047488" y="3447288"/>
            <a:ext cx="6364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commit 写本地历史；push 更新远程分支。[1][8]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4672" y="3995928"/>
            <a:ext cx="10561320" cy="0"/>
          </a:xfrm>
          <a:prstGeom prst="line">
            <a:avLst/>
          </a:prstGeom>
          <a:noFill/>
          <a:ln w="7620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2104" y="4142232"/>
            <a:ext cx="4160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邮箱与认证不是一回事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5047488" y="4114800"/>
            <a:ext cx="6364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可用账号关联邮箱或完整 noreply；SSH / HTTPS 负责认证。[12][13]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4672" y="4663440"/>
            <a:ext cx="10561320" cy="0"/>
          </a:xfrm>
          <a:prstGeom prst="line">
            <a:avLst/>
          </a:prstGeom>
          <a:noFill/>
          <a:ln w="7620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2104" y="4809744"/>
            <a:ext cx="4160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5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密钥身份 ≠ 提交作者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5047488" y="4782312"/>
            <a:ext cx="6364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SSH 用于认证；user.name / user.email 写入提交记录。[9]–[13]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main 是本例的主分支名；其他项目以实际分支为准。HTTPS 认证不使用网页登录密码。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spc="140" kern="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参考资料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53619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命令解释、认证流程与安全说明可进一步查阅下列资料。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45952" cy="0"/>
          </a:xfrm>
          <a:prstGeom prst="line">
            <a:avLst/>
          </a:prstGeom>
          <a:noFill/>
          <a:ln w="9525">
            <a:solidFill>
              <a:srgbClr val="DCE1E3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64739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spc="100" kern="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  ·  版本控制与协作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927080" y="64419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/ 30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F18B45"/>
          </a:solidFill>
          <a:ln w="12700">
            <a:solidFill>
              <a:srgbClr val="F18B4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504" y="2139696"/>
            <a:ext cx="5650992" cy="3438144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96112" y="2441448"/>
            <a:ext cx="5047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课程参考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896112" y="3136392"/>
            <a:ext cx="504748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[A] Software Development Processes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Implementation &amp; Deployment</a:t>
            </a:r>
          </a:p>
          <a:p>
            <a:pPr indent="0" marL="0">
              <a:lnSpc>
                <a:spcPct val="110000"/>
              </a:lnSpc>
              <a:buNone/>
            </a:pPr>
            <a:r>
              <a:t/>
            </a:r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[B] github 小白使用指南</a:t>
            </a:r>
          </a:p>
        </p:txBody>
      </p:sp>
      <p:sp>
        <p:nvSpPr>
          <p:cNvPr id="12" name="Text 10"/>
          <p:cNvSpPr/>
          <p:nvPr/>
        </p:nvSpPr>
        <p:spPr>
          <a:xfrm>
            <a:off x="914400" y="5111496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参考章节与完整索引见《使用指南》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2139696"/>
            <a:ext cx="5102352" cy="3438144"/>
          </a:xfrm>
          <a:prstGeom prst="roundRect">
            <a:avLst>
              <a:gd name="adj" fmla="val 3191"/>
            </a:avLst>
          </a:prstGeom>
          <a:solidFill>
            <a:srgbClr val="E7F3F2"/>
          </a:solidFill>
          <a:ln w="12700">
            <a:solidFill>
              <a:srgbClr val="E7F3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21424" y="2542032"/>
            <a:ext cx="4343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D7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/ GitHub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830568" y="3575304"/>
            <a:ext cx="4288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323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官方文档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830568" y="4315968"/>
            <a:ext cx="439826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Git：命令、分支与版本控制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GitHub：认证、托管与 Pull Request</a:t>
            </a:r>
          </a:p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B6B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账号安全与敏感数据保护</a:t>
            </a:r>
          </a:p>
        </p:txBody>
      </p:sp>
      <p:sp>
        <p:nvSpPr>
          <p:cNvPr id="17" name="Shape 15"/>
          <p:cNvSpPr/>
          <p:nvPr/>
        </p:nvSpPr>
        <p:spPr>
          <a:xfrm>
            <a:off x="594360" y="5705856"/>
            <a:ext cx="11018520" cy="438912"/>
          </a:xfrm>
          <a:prstGeom prst="roundRect">
            <a:avLst>
              <a:gd name="adj" fmla="val 16667"/>
            </a:avLst>
          </a:prstGeom>
          <a:solidFill>
            <a:srgbClr val="FFF0E2"/>
          </a:solidFill>
          <a:ln w="12700">
            <a:solidFill>
              <a:srgbClr val="FFF0E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6384" y="5733288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E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各页方括号编号对应《使用指南》末尾的参考资料索引。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与 GitHub：版本控制与协作</dc:title>
  <dc:subject>Git 基础、GitHub 托管、分支协作与安全</dc:subject>
  <cp:revision>1</cp:revision>
  <dcterms:created xsi:type="dcterms:W3CDTF">2026-09-25T15:55:03Z</dcterms:created>
  <dcterms:modified xsi:type="dcterms:W3CDTF">2026-09-25T15:55:03Z</dcterms:modified>
  <cp:keywords>Git, GitHub</cp:keywords>
</cp:coreProperties>
</file>